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18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sintetizado a partir del trabajo final del usuario: “Evaluación del riesgo de crédito corporativo en la industria aeronáutica...”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Riesgos y características del sector resumidos del trabajo final del usuario y sus referencias base del caso.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Indicadores y síntesis tomados del trabajo final del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derivado de la sección “Interpretación desde riesgo de crédito” del trabajo final del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Fórmula, supuestos y escenarios tomados del trabajo final del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Recomendación de línea y criterios de aprobación derivados del trabajo final del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basado en la sección de gobernanza del riesgo de crédito del trabajo final del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Vinculación elaborada a partir de la estructura del curso compartida por el usuario y del trabajo final.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Conclusiones sintetizadas del trabajo final del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F92C4-F69F-B052-DA06-34FEAE9C3E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9074" y="0"/>
            <a:ext cx="2182926" cy="14559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A5C"/>
                </a:solidFill>
                <a:ea typeface="Aptos Display" pitchFamily="34" charset="-122"/>
                <a:cs typeface="Times New Roman" panose="02020603050405020304" pitchFamily="18" charset="0"/>
              </a:rPr>
              <a:t>Evaluación del riesgo de crédito corporativo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13A5C"/>
                </a:solidFill>
                <a:ea typeface="Aptos Display" pitchFamily="34" charset="-122"/>
                <a:cs typeface="Times New Roman" panose="02020603050405020304" pitchFamily="18" charset="0"/>
              </a:rPr>
              <a:t>en la industria aeronáutica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6EA3"/>
                </a:solidFill>
              </a:rPr>
              <a:t>Caso: Delta Air Lines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0972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905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10241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</a:rPr>
              <a:t>Objetivo: </a:t>
            </a:r>
            <a:r>
              <a:rPr lang="en-US" sz="1900" dirty="0">
                <a:solidFill>
                  <a:srgbClr val="1F2937"/>
                </a:solidFill>
              </a:rPr>
              <a:t>evaluar la capacidad de pago de Delta Air Lines desde una óptica de riesgo de crédito corporativo.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</a:rPr>
              <a:t>Ejes del análisis:</a:t>
            </a:r>
            <a:r>
              <a:rPr lang="en-US" sz="1900" dirty="0">
                <a:solidFill>
                  <a:srgbClr val="1F2937"/>
                </a:solidFill>
              </a:rPr>
              <a:t> industria, desempeño financiero, riesgo crediticio, pérdida esperada, gobernanza y recomendación de línea.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</a:rPr>
              <a:t>Enfoque final: </a:t>
            </a:r>
            <a:r>
              <a:rPr lang="en-US" sz="1900" dirty="0">
                <a:solidFill>
                  <a:srgbClr val="1F2937"/>
                </a:solidFill>
              </a:rPr>
              <a:t>estimación de PD, LGD, EAD y EL desde la perspectiva del banco.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</a:rPr>
              <a:t>Óscar Rocha Mora | Gestión de Riesgo de Crédito | UCR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1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3C4F89-C574-2689-35EB-AA181BD25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591" y="606484"/>
            <a:ext cx="2524104" cy="168355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Industria aeronáutica y riesgos estructurales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0197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Rasgos de la industria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04512" y="1273909"/>
            <a:ext cx="5212080" cy="19796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</a:t>
            </a:r>
            <a:r>
              <a:rPr lang="es-ES" sz="1800" dirty="0">
                <a:solidFill>
                  <a:srgbClr val="1F2937"/>
                </a:solidFill>
              </a:rPr>
              <a:t>Alta intensidad de capital, elevado apalancamiento y alta sensibilidad al ciclo económico</a:t>
            </a:r>
            <a:r>
              <a:rPr lang="en-US" sz="1800" dirty="0">
                <a:solidFill>
                  <a:srgbClr val="1F2937"/>
                </a:solidFill>
              </a:rPr>
              <a:t>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Dependencia del precio del combustible, tasas de interés y demanda de pasajeros.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Competencia fuerte en rutas, tarifas, frecuencia y calidad </a:t>
            </a:r>
            <a:r>
              <a:rPr lang="en-US" sz="1800" dirty="0" err="1">
                <a:solidFill>
                  <a:srgbClr val="1F2937"/>
                </a:solidFill>
              </a:rPr>
              <a:t>operativa</a:t>
            </a:r>
            <a:r>
              <a:rPr lang="en-US" sz="1800" dirty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6263640" y="90197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Riesgos estructurales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51700" y="1273301"/>
            <a:ext cx="5212080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Volatilidad de ingresos ante desaceleraciones económicas y shocks externos.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Presión financiera por altos niveles de endeudamiento.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Exposición a factores regulatorios, geopolíticos, climáticos y de ciberseguridad.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561898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5C83DC-F594-0453-1BE7-E6F455678F8D}"/>
              </a:ext>
            </a:extLst>
          </p:cNvPr>
          <p:cNvSpPr txBox="1"/>
          <p:nvPr/>
        </p:nvSpPr>
        <p:spPr>
          <a:xfrm>
            <a:off x="602985" y="5708748"/>
            <a:ext cx="10444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113A5C"/>
                </a:solidFill>
              </a:rPr>
              <a:t>Idea central: es un sector con escala y barreras de entrada, pero con un perfil base de riesgo elevado.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242564-1586-1DF7-6980-AC8964454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687" y="3044261"/>
            <a:ext cx="3654919" cy="2387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Perfil financiero de Delta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36053" y="960120"/>
            <a:ext cx="3657600" cy="2262418"/>
          </a:xfrm>
          <a:prstGeom prst="roundRect">
            <a:avLst>
              <a:gd name="adj" fmla="val 2500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4653" y="1170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Fortalezas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3560" y="1469151"/>
            <a:ext cx="3314578" cy="157326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Ingresos estables y generación sólida de flujo operativo.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Free cash flow al alza y menor presión por CapEx.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Mejora en la estructura de capital y reducción de deuda con costo.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76533" y="920272"/>
            <a:ext cx="3108960" cy="2468879"/>
          </a:xfrm>
          <a:prstGeom prst="roundRect">
            <a:avLst>
              <a:gd name="adj" fmla="val 2500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50853" y="1170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Señales a vigilar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50853" y="1468215"/>
            <a:ext cx="2720218" cy="175949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Liquidez tradicional débil si se observa aislada.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Modelo dependiente de ingresos diferidos y operación continua.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Sensibilidad a choques de mercado.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68373" y="913678"/>
            <a:ext cx="3657600" cy="2583901"/>
          </a:xfrm>
          <a:prstGeom prst="roundRect">
            <a:avLst>
              <a:gd name="adj" fmla="val 2500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8413" y="1170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Lectura crediticia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59813" y="1479502"/>
            <a:ext cx="3085979" cy="161074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La capacidad de pago luce consistente.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La mejora financiera no elimina la exposición al riesgo sectorial.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El análisis debe combinar cifras con contexto de negocio.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1479" y="3544022"/>
            <a:ext cx="10820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Indicadores clave 2025 y g </a:t>
            </a:r>
            <a:r>
              <a:rPr lang="en-US" sz="1700" b="1" dirty="0" err="1">
                <a:solidFill>
                  <a:srgbClr val="113A5C"/>
                </a:solidFill>
              </a:rPr>
              <a:t>en</a:t>
            </a:r>
            <a:r>
              <a:rPr lang="en-US" sz="1700" b="1" dirty="0">
                <a:solidFill>
                  <a:srgbClr val="113A5C"/>
                </a:solidFill>
              </a:rPr>
              <a:t> </a:t>
            </a:r>
            <a:r>
              <a:rPr lang="en-US" sz="1700" b="1" dirty="0" err="1">
                <a:solidFill>
                  <a:srgbClr val="113A5C"/>
                </a:solidFill>
              </a:rPr>
              <a:t>comparativa</a:t>
            </a:r>
            <a:r>
              <a:rPr lang="en-US" sz="1700" b="1" dirty="0">
                <a:solidFill>
                  <a:srgbClr val="113A5C"/>
                </a:solidFill>
              </a:rPr>
              <a:t> al 2024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3</a:t>
            </a:r>
            <a:endParaRPr lang="en-US" sz="900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68988BB-3049-7AAF-BD69-612B8783F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181150"/>
              </p:ext>
            </p:extLst>
          </p:nvPr>
        </p:nvGraphicFramePr>
        <p:xfrm>
          <a:off x="343560" y="3983115"/>
          <a:ext cx="5585482" cy="1955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667">
                  <a:extLst>
                    <a:ext uri="{9D8B030D-6E8A-4147-A177-3AD203B41FA5}">
                      <a16:colId xmlns:a16="http://schemas.microsoft.com/office/drawing/2014/main" val="4240774960"/>
                    </a:ext>
                  </a:extLst>
                </a:gridCol>
                <a:gridCol w="1145662">
                  <a:extLst>
                    <a:ext uri="{9D8B030D-6E8A-4147-A177-3AD203B41FA5}">
                      <a16:colId xmlns:a16="http://schemas.microsoft.com/office/drawing/2014/main" val="143190828"/>
                    </a:ext>
                  </a:extLst>
                </a:gridCol>
                <a:gridCol w="1716657">
                  <a:extLst>
                    <a:ext uri="{9D8B030D-6E8A-4147-A177-3AD203B41FA5}">
                      <a16:colId xmlns:a16="http://schemas.microsoft.com/office/drawing/2014/main" val="1200409092"/>
                    </a:ext>
                  </a:extLst>
                </a:gridCol>
                <a:gridCol w="1053496">
                  <a:extLst>
                    <a:ext uri="{9D8B030D-6E8A-4147-A177-3AD203B41FA5}">
                      <a16:colId xmlns:a16="http://schemas.microsoft.com/office/drawing/2014/main" val="2128988079"/>
                    </a:ext>
                  </a:extLst>
                </a:gridCol>
              </a:tblGrid>
              <a:tr h="2753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Métrica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0972395"/>
                  </a:ext>
                </a:extLst>
              </a:tr>
              <a:tr h="2753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Revenues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50,894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51,768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1.72%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8036535"/>
                  </a:ext>
                </a:extLst>
              </a:tr>
              <a:tr h="2753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Current Ratio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0.37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7%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2556880"/>
                  </a:ext>
                </a:extLst>
              </a:tr>
              <a:tr h="303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Operating Cash Flow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8,025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8,342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4%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456057"/>
                  </a:ext>
                </a:extLst>
              </a:tr>
              <a:tr h="2753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Capex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(5,140)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(4,499)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14%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5423251"/>
                  </a:ext>
                </a:extLst>
              </a:tr>
              <a:tr h="2753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 Cash Flow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2,885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3,843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4359059"/>
                  </a:ext>
                </a:extLst>
              </a:tr>
              <a:tr h="2753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OWK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(16,957)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(18,552)</a:t>
                      </a: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-9%</a:t>
                      </a: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9319368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81FDDEC-1A5E-6542-1E27-9FFF85ECB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74144"/>
              </p:ext>
            </p:extLst>
          </p:nvPr>
        </p:nvGraphicFramePr>
        <p:xfrm>
          <a:off x="6088043" y="3983115"/>
          <a:ext cx="4910636" cy="1955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632">
                  <a:extLst>
                    <a:ext uri="{9D8B030D-6E8A-4147-A177-3AD203B41FA5}">
                      <a16:colId xmlns:a16="http://schemas.microsoft.com/office/drawing/2014/main" val="3529266682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3605722566"/>
                    </a:ext>
                  </a:extLst>
                </a:gridCol>
              </a:tblGrid>
              <a:tr h="277049">
                <a:tc>
                  <a:txBody>
                    <a:bodyPr/>
                    <a:lstStyle/>
                    <a:p>
                      <a:pPr algn="ctr"/>
                      <a:r>
                        <a:rPr lang="es-CR" sz="1200" dirty="0"/>
                        <a:t>Estructura de capital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200" dirty="0"/>
                        <a:t>g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762968"/>
                  </a:ext>
                </a:extLst>
              </a:tr>
              <a:tr h="621719">
                <a:tc>
                  <a:txBody>
                    <a:bodyPr/>
                    <a:lstStyle/>
                    <a:p>
                      <a:r>
                        <a:rPr lang="es-CR" sz="1200" dirty="0"/>
                        <a:t>Deuda con costo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$33,009 </a:t>
                      </a:r>
                      <a:r>
                        <a:rPr lang="en-US" sz="1200" b="0" dirty="0" err="1"/>
                        <a:t>ms</a:t>
                      </a:r>
                      <a:r>
                        <a:rPr lang="en-US" sz="1200" b="0" dirty="0"/>
                        <a:t> a $20,274 </a:t>
                      </a:r>
                      <a:r>
                        <a:rPr lang="en-US" sz="1200" b="0" dirty="0" err="1"/>
                        <a:t>ms</a:t>
                      </a:r>
                      <a:r>
                        <a:rPr lang="en-US" sz="1200" b="0" dirty="0"/>
                        <a:t> (-38.6%)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212756"/>
                  </a:ext>
                </a:extLst>
              </a:tr>
              <a:tr h="621719">
                <a:tc>
                  <a:txBody>
                    <a:bodyPr/>
                    <a:lstStyle/>
                    <a:p>
                      <a:r>
                        <a:rPr lang="es-CR" sz="1200" dirty="0"/>
                        <a:t>Patrimonio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0" dirty="0"/>
                        <a:t>sube de $15,293 ms a $20,853 ms (+36.4%)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818944"/>
                  </a:ext>
                </a:extLst>
              </a:tr>
              <a:tr h="435203">
                <a:tc>
                  <a:txBody>
                    <a:bodyPr/>
                    <a:lstStyle/>
                    <a:p>
                      <a:r>
                        <a:rPr lang="es-CR" sz="1200" dirty="0"/>
                        <a:t>Peso de deuda en capital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baja de 68.34% a 49.30%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45997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 crediticia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1960" y="1430863"/>
            <a:ext cx="65836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El riesgo de combustible afecta directamente costos, márgenes y flujo de caja.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Una caída en la demanda de pasajeros debilita ingresos y capacidad de repago.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Los riesgos tecnológicos y de ciberseguridad pueden generar interrupciones, costos adicionales y daño reputacional.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La dependencia de ingresos relevantes, como American Express / SkyMiles, también debe </a:t>
            </a:r>
            <a:r>
              <a:rPr lang="en-US" sz="1900" dirty="0" err="1">
                <a:solidFill>
                  <a:srgbClr val="1F2937"/>
                </a:solidFill>
              </a:rPr>
              <a:t>monitorearse</a:t>
            </a:r>
            <a:r>
              <a:rPr lang="en-US" sz="1900" dirty="0">
                <a:solidFill>
                  <a:srgbClr val="1F2937"/>
                </a:solidFill>
              </a:rPr>
              <a:t>.</a:t>
            </a:r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En conjunto, Delta </a:t>
            </a:r>
            <a:r>
              <a:rPr lang="en-US" sz="1900" dirty="0" err="1">
                <a:solidFill>
                  <a:srgbClr val="1F2937"/>
                </a:solidFill>
              </a:rPr>
              <a:t>presenta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una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buena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capacidad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operativa</a:t>
            </a:r>
            <a:r>
              <a:rPr lang="en-US" sz="1900" dirty="0">
                <a:solidFill>
                  <a:srgbClr val="1F2937"/>
                </a:solidFill>
              </a:rPr>
              <a:t>, </a:t>
            </a:r>
            <a:r>
              <a:rPr lang="en-US" sz="1900" dirty="0" err="1">
                <a:solidFill>
                  <a:srgbClr val="1F2937"/>
                </a:solidFill>
              </a:rPr>
              <a:t>pero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su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perfil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crediticio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sigue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en-US" sz="1900" dirty="0" err="1">
                <a:solidFill>
                  <a:srgbClr val="1F2937"/>
                </a:solidFill>
              </a:rPr>
              <a:t>atado</a:t>
            </a:r>
            <a:r>
              <a:rPr lang="en-US" sz="1900" dirty="0">
                <a:solidFill>
                  <a:srgbClr val="1F2937"/>
                </a:solidFill>
              </a:rPr>
              <a:t> a la </a:t>
            </a:r>
            <a:r>
              <a:rPr lang="en-US" sz="1900" dirty="0" err="1">
                <a:solidFill>
                  <a:srgbClr val="1F2937"/>
                </a:solidFill>
              </a:rPr>
              <a:t>volatilidad</a:t>
            </a:r>
            <a:r>
              <a:rPr lang="en-US" sz="1900" dirty="0">
                <a:solidFill>
                  <a:srgbClr val="1F2937"/>
                </a:solidFill>
              </a:rPr>
              <a:t> del sector.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863840" y="1234440"/>
            <a:ext cx="3200400" cy="100584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12700">
            <a:solidFill>
              <a:srgbClr val="B9D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38160" y="14813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</a:rPr>
              <a:t>Capacidad de pago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</a:rPr>
              <a:t>consistente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052560" y="2487168"/>
            <a:ext cx="822960" cy="548640"/>
          </a:xfrm>
          <a:prstGeom prst="chevron">
            <a:avLst/>
          </a:prstGeom>
          <a:solidFill>
            <a:srgbClr val="2D6EA3"/>
          </a:solidFill>
          <a:ln w="12700">
            <a:solidFill>
              <a:srgbClr val="2D6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0" y="3154680"/>
            <a:ext cx="3200400" cy="1234440"/>
          </a:xfrm>
          <a:prstGeom prst="roundRect">
            <a:avLst>
              <a:gd name="adj" fmla="val 3704"/>
            </a:avLst>
          </a:prstGeom>
          <a:solidFill>
            <a:srgbClr val="FFF5E8"/>
          </a:solidFill>
          <a:ln w="12700">
            <a:solidFill>
              <a:srgbClr val="E5C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3816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77D1F"/>
                </a:solidFill>
              </a:rPr>
              <a:t>Riesgo sectorial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C77D1F"/>
                </a:solidFill>
              </a:rPr>
              <a:t>y exposición externa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8FCBD2-5813-265A-563E-05E84D6ED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083" y="4735039"/>
            <a:ext cx="2029968" cy="1522476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45C96C67-AB13-D03C-1C1D-047ED3AA2460}"/>
              </a:ext>
            </a:extLst>
          </p:cNvPr>
          <p:cNvSpPr/>
          <p:nvPr/>
        </p:nvSpPr>
        <p:spPr>
          <a:xfrm>
            <a:off x="7155324" y="5161788"/>
            <a:ext cx="45947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R" b="1" dirty="0">
                <a:solidFill>
                  <a:srgbClr val="113A5C"/>
                </a:solidFill>
              </a:rPr>
              <a:t>Buen </a:t>
            </a:r>
            <a:r>
              <a:rPr b="1" dirty="0" err="1">
                <a:solidFill>
                  <a:srgbClr val="113A5C"/>
                </a:solidFill>
              </a:rPr>
              <a:t>deudor</a:t>
            </a:r>
            <a:r>
              <a:rPr b="1" dirty="0">
                <a:solidFill>
                  <a:srgbClr val="113A5C"/>
                </a:solidFill>
              </a:rPr>
              <a:t>, </a:t>
            </a:r>
            <a:r>
              <a:rPr b="1" dirty="0" err="1">
                <a:solidFill>
                  <a:srgbClr val="113A5C"/>
                </a:solidFill>
              </a:rPr>
              <a:t>pero</a:t>
            </a:r>
            <a:r>
              <a:rPr b="1" dirty="0">
                <a:solidFill>
                  <a:srgbClr val="113A5C"/>
                </a:solidFill>
              </a:rPr>
              <a:t> con </a:t>
            </a:r>
            <a:r>
              <a:rPr b="1" dirty="0" err="1">
                <a:solidFill>
                  <a:srgbClr val="113A5C"/>
                </a:solidFill>
              </a:rPr>
              <a:t>riesgos</a:t>
            </a:r>
            <a:r>
              <a:rPr b="1" dirty="0">
                <a:solidFill>
                  <a:srgbClr val="113A5C"/>
                </a:solidFill>
              </a:rPr>
              <a:t> </a:t>
            </a:r>
            <a:r>
              <a:rPr b="1" dirty="0" err="1">
                <a:solidFill>
                  <a:srgbClr val="113A5C"/>
                </a:solidFill>
              </a:rPr>
              <a:t>que</a:t>
            </a:r>
            <a:r>
              <a:rPr b="1" dirty="0">
                <a:solidFill>
                  <a:srgbClr val="113A5C"/>
                </a:solidFill>
              </a:rPr>
              <a:t> </a:t>
            </a:r>
            <a:r>
              <a:rPr b="1" dirty="0" err="1">
                <a:solidFill>
                  <a:srgbClr val="113A5C"/>
                </a:solidFill>
              </a:rPr>
              <a:t>exigen</a:t>
            </a:r>
            <a:r>
              <a:rPr b="1" dirty="0">
                <a:solidFill>
                  <a:srgbClr val="113A5C"/>
                </a:solidFill>
              </a:rPr>
              <a:t> </a:t>
            </a:r>
            <a:r>
              <a:rPr b="1" dirty="0" err="1">
                <a:solidFill>
                  <a:srgbClr val="113A5C"/>
                </a:solidFill>
              </a:rPr>
              <a:t>seguimiento</a:t>
            </a:r>
            <a:r>
              <a:rPr b="1" dirty="0">
                <a:solidFill>
                  <a:srgbClr val="113A5C"/>
                </a:solidFill>
              </a:rPr>
              <a:t> continuo.</a:t>
            </a:r>
            <a:endParaRPr lang="en-US" b="1" dirty="0">
              <a:solidFill>
                <a:srgbClr val="113A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PD, LGD, EAD y EL desde la perspectiva del banco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21343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A5C"/>
                </a:solidFill>
              </a:rPr>
              <a:t>EL = PD × LGD × EAD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79" y="1738482"/>
            <a:ext cx="4989421" cy="866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</a:rPr>
              <a:t>La PD se aproxima con base en la calificación de Delta (Baa2 / BBB-).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</a:rPr>
              <a:t>La EAD se define sobre la </a:t>
            </a:r>
            <a:r>
              <a:rPr lang="en-US" sz="1750" dirty="0" err="1">
                <a:solidFill>
                  <a:srgbClr val="1F2937"/>
                </a:solidFill>
              </a:rPr>
              <a:t>línea</a:t>
            </a:r>
            <a:r>
              <a:rPr lang="en-US" sz="1750" dirty="0">
                <a:solidFill>
                  <a:srgbClr val="1F2937"/>
                </a:solidFill>
              </a:rPr>
              <a:t> de </a:t>
            </a:r>
            <a:r>
              <a:rPr lang="en-US" sz="1750" dirty="0" err="1">
                <a:solidFill>
                  <a:srgbClr val="1F2937"/>
                </a:solidFill>
              </a:rPr>
              <a:t>recomendación</a:t>
            </a:r>
            <a:r>
              <a:rPr lang="en-US" sz="1750" dirty="0">
                <a:solidFill>
                  <a:srgbClr val="1F2937"/>
                </a:solidFill>
              </a:rPr>
              <a:t> </a:t>
            </a:r>
            <a:r>
              <a:rPr lang="en-US" sz="1750" dirty="0" err="1">
                <a:solidFill>
                  <a:srgbClr val="1F2937"/>
                </a:solidFill>
              </a:rPr>
              <a:t>planteada</a:t>
            </a:r>
            <a:r>
              <a:rPr lang="en-US" sz="1750" dirty="0">
                <a:solidFill>
                  <a:srgbClr val="1F2937"/>
                </a:solidFill>
              </a:rPr>
              <a:t>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11480" y="3200400"/>
            <a:ext cx="10607040" cy="2377440"/>
          </a:xfrm>
          <a:prstGeom prst="roundRect">
            <a:avLst>
              <a:gd name="adj" fmla="val 1923"/>
            </a:avLst>
          </a:prstGeom>
          <a:solidFill>
            <a:srgbClr val="EAF2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35615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Lectura de la pérdida esperada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4046220"/>
            <a:ext cx="99669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s-ES" dirty="0"/>
              <a:t>Incluso bajo el escenario pesimista, la pérdida esperada se mantiene acotada para el banco.</a:t>
            </a:r>
          </a:p>
          <a:p>
            <a:r>
              <a:rPr lang="es-ES" dirty="0"/>
              <a:t>La exposición analizada corresponde a la línea propuesta y no a la exposición financiera total de Delta.</a:t>
            </a:r>
          </a:p>
        </p:txBody>
      </p:sp>
      <p:sp>
        <p:nvSpPr>
          <p:cNvPr id="10" name="Shape 7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5</a:t>
            </a:r>
            <a:endParaRPr lang="en-US" sz="9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0B8DF7D-3E1C-BFC5-77EC-EC82B5E3B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595661"/>
              </p:ext>
            </p:extLst>
          </p:nvPr>
        </p:nvGraphicFramePr>
        <p:xfrm>
          <a:off x="5400901" y="996803"/>
          <a:ext cx="58057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86308043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70304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892836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513252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8745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Escenario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LGD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EAD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4340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Optimista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1.0%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40%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$20 </a:t>
                      </a:r>
                      <a:r>
                        <a:rPr lang="en-US" sz="1400" dirty="0" err="1">
                          <a:solidFill>
                            <a:srgbClr val="1F2937"/>
                          </a:solidFill>
                        </a:rPr>
                        <a:t>ms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$80 mil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63995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Conservador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1.0%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50%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$25 </a:t>
                      </a:r>
                      <a:r>
                        <a:rPr lang="en-US" sz="1400" dirty="0" err="1">
                          <a:solidFill>
                            <a:srgbClr val="1F2937"/>
                          </a:solidFill>
                        </a:rPr>
                        <a:t>ms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$125 mil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72545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Pesimista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2.0%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60%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$30 </a:t>
                      </a:r>
                      <a:r>
                        <a:rPr lang="en-US" sz="1400" dirty="0" err="1">
                          <a:solidFill>
                            <a:srgbClr val="1F2937"/>
                          </a:solidFill>
                        </a:rPr>
                        <a:t>ms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$360 mil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56686128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Recomendación de línea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EAF7EF"/>
          </a:solidFill>
          <a:ln w="12700">
            <a:solidFill>
              <a:srgbClr val="B9D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</a:rPr>
              <a:t>Línea sugerida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79" y="1673352"/>
            <a:ext cx="26164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A5C"/>
                </a:solidFill>
              </a:rPr>
              <a:t>$20 </a:t>
            </a:r>
            <a:r>
              <a:rPr lang="en-US" sz="2400" b="1" dirty="0" err="1">
                <a:solidFill>
                  <a:srgbClr val="113A5C"/>
                </a:solidFill>
              </a:rPr>
              <a:t>ms</a:t>
            </a:r>
            <a:r>
              <a:rPr lang="en-US" sz="2400" b="1" dirty="0">
                <a:solidFill>
                  <a:srgbClr val="113A5C"/>
                </a:solidFill>
              </a:rPr>
              <a:t> – $30 </a:t>
            </a:r>
            <a:r>
              <a:rPr lang="en-US" sz="2400" b="1" dirty="0" err="1">
                <a:solidFill>
                  <a:srgbClr val="113A5C"/>
                </a:solidFill>
              </a:rPr>
              <a:t>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434840" y="10515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325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Plazo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1673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6EA3"/>
                </a:solidFill>
              </a:rPr>
              <a:t>30 a 60 días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269480" y="105156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5E8"/>
          </a:solidFill>
          <a:ln w="12700">
            <a:solidFill>
              <a:srgbClr val="E5C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43800" y="1089419"/>
            <a:ext cx="196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7D1F"/>
                </a:solidFill>
              </a:rPr>
              <a:t>Justificación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4380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</a:rPr>
              <a:t>Exposición prudente sin perder consistencia con la escala y solidez financiera de Delta.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23249" y="3118104"/>
            <a:ext cx="56684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Variables complementarias para decidir el monto final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8007" y="3611880"/>
            <a:ext cx="55778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Historial de pago de la empresa.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Cumplimiento con proveedores y acreedores.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Estabilidad de relaciones comerciales con contrapartes clave.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Condiciones de mercado vigentes al momento de la aprobación.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3154680"/>
            <a:ext cx="4389120" cy="1645920"/>
          </a:xfrm>
          <a:prstGeom prst="roundRect">
            <a:avLst>
              <a:gd name="adj" fmla="val 2778"/>
            </a:avLst>
          </a:prstGeom>
          <a:solidFill>
            <a:srgbClr val="EAF2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19" y="3319272"/>
            <a:ext cx="2581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5C"/>
                </a:solidFill>
              </a:rPr>
              <a:t>Mensaje principal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32320" y="3749040"/>
            <a:ext cx="4038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dirty="0"/>
              <a:t>La recomendación es favorable, con definición final del monto según el análisis cualitativo y las condiciones de aprobación.</a:t>
            </a:r>
          </a:p>
        </p:txBody>
      </p:sp>
      <p:sp>
        <p:nvSpPr>
          <p:cNvPr id="18" name="Shape 16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Retos de gobernanza y concentración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08660" y="1810512"/>
            <a:ext cx="667512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El banco debe comprender el modelo de negocio de Delta y la sensibilidad de sus flujos.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La medición del riesgo no debe basarse solo en ratios, sino también en juicio experto y seguimiento continuo.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Una exposición relevante hacia una sola empresa o hacia el sector aeronáutico puede generar concentración en cartera o patrimonio.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El monitoreo debe incluir señales de deterioro financiero, operativo y sectorial.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0" y="15179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3A5C"/>
                </a:solidFill>
              </a:rPr>
              <a:t>Gobernanza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0" y="2267712"/>
            <a:ext cx="640080" cy="411480"/>
          </a:xfrm>
          <a:prstGeom prst="chevron">
            <a:avLst/>
          </a:prstGeom>
          <a:solidFill>
            <a:srgbClr val="2D6EA3"/>
          </a:solidFill>
          <a:ln w="12700">
            <a:solidFill>
              <a:srgbClr val="2D6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01000" y="288036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FFF5E8"/>
          </a:solidFill>
          <a:ln w="12700">
            <a:solidFill>
              <a:srgbClr val="E5C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0" y="31729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7D1F"/>
                </a:solidFill>
              </a:rPr>
              <a:t>Concentración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0" y="3913632"/>
            <a:ext cx="640080" cy="411480"/>
          </a:xfrm>
          <a:prstGeom prst="chevron">
            <a:avLst/>
          </a:prstGeom>
          <a:solidFill>
            <a:srgbClr val="2D6EA3"/>
          </a:solidFill>
          <a:ln w="12700">
            <a:solidFill>
              <a:srgbClr val="2D6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01000" y="452628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12700">
            <a:solidFill>
              <a:srgbClr val="B9D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0" y="481888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</a:rPr>
              <a:t>Monitoreo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7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E9F6CB-5C97-C5AE-5618-941EA5624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377" y="4568683"/>
            <a:ext cx="3045768" cy="171324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Vinculación con temas del curso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4846320" cy="676656"/>
          </a:xfrm>
          <a:prstGeom prst="roundRect">
            <a:avLst>
              <a:gd name="adj" fmla="val 5405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" y="129844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Gobernanza del riesgo de crédito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846320" cy="676656"/>
          </a:xfrm>
          <a:prstGeom prst="roundRect">
            <a:avLst>
              <a:gd name="adj" fmla="val 5405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35000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Probabilidad de incumplimiento (PD)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846320" cy="676656"/>
          </a:xfrm>
          <a:prstGeom prst="roundRect">
            <a:avLst>
              <a:gd name="adj" fmla="val 5405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40156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Pérdida dado el incumplimiento (LGD)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4846320" cy="676656"/>
          </a:xfrm>
          <a:prstGeom prst="roundRect">
            <a:avLst>
              <a:gd name="adj" fmla="val 5405"/>
            </a:avLst>
          </a:prstGeom>
          <a:solidFill>
            <a:srgbClr val="F6FAFD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445312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Exposición al incumplimiento (EAD)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1097280"/>
            <a:ext cx="4846320" cy="676656"/>
          </a:xfrm>
          <a:prstGeom prst="roundRect">
            <a:avLst>
              <a:gd name="adj" fmla="val 5405"/>
            </a:avLst>
          </a:prstGeom>
          <a:solidFill>
            <a:srgbClr val="EAF2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56248" y="129844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Pérdidas esperadas (EL)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55080" y="2148840"/>
            <a:ext cx="4846320" cy="676656"/>
          </a:xfrm>
          <a:prstGeom prst="roundRect">
            <a:avLst>
              <a:gd name="adj" fmla="val 5405"/>
            </a:avLst>
          </a:prstGeom>
          <a:solidFill>
            <a:srgbClr val="EAF2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56248" y="235000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Riesgo de concentración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55080" y="3200400"/>
            <a:ext cx="4846320" cy="676656"/>
          </a:xfrm>
          <a:prstGeom prst="roundRect">
            <a:avLst>
              <a:gd name="adj" fmla="val 5405"/>
            </a:avLst>
          </a:prstGeom>
          <a:solidFill>
            <a:srgbClr val="EAF2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6248" y="340156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5C"/>
                </a:solidFill>
              </a:rPr>
              <a:t>Señales de alerta y monitoreo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5715000"/>
            <a:ext cx="10149840" cy="566928"/>
          </a:xfrm>
          <a:prstGeom prst="roundRect">
            <a:avLst>
              <a:gd name="adj" fmla="val 8065"/>
            </a:avLst>
          </a:prstGeom>
          <a:solidFill>
            <a:srgbClr val="EAF2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590702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3A5C"/>
                </a:solidFill>
              </a:rPr>
              <a:t>El </a:t>
            </a:r>
            <a:r>
              <a:rPr lang="en-US" sz="1800" b="1" dirty="0" err="1">
                <a:solidFill>
                  <a:srgbClr val="113A5C"/>
                </a:solidFill>
              </a:rPr>
              <a:t>caso</a:t>
            </a:r>
            <a:r>
              <a:rPr lang="en-US" sz="1800" b="1" dirty="0">
                <a:solidFill>
                  <a:srgbClr val="113A5C"/>
                </a:solidFill>
              </a:rPr>
              <a:t> </a:t>
            </a:r>
            <a:r>
              <a:rPr lang="en-US" sz="1800" b="1" dirty="0" err="1">
                <a:solidFill>
                  <a:srgbClr val="113A5C"/>
                </a:solidFill>
              </a:rPr>
              <a:t>permitió</a:t>
            </a:r>
            <a:r>
              <a:rPr lang="en-US" sz="1800" b="1" dirty="0">
                <a:solidFill>
                  <a:srgbClr val="113A5C"/>
                </a:solidFill>
              </a:rPr>
              <a:t> aplicar conceptos del curso a una </a:t>
            </a:r>
            <a:r>
              <a:rPr lang="en-US" sz="1800" b="1" dirty="0" err="1">
                <a:solidFill>
                  <a:srgbClr val="113A5C"/>
                </a:solidFill>
              </a:rPr>
              <a:t>operación</a:t>
            </a:r>
            <a:r>
              <a:rPr lang="en-US" sz="1800" b="1" dirty="0">
                <a:solidFill>
                  <a:srgbClr val="113A5C"/>
                </a:solidFill>
              </a:rPr>
              <a:t> corporative</a:t>
            </a:r>
            <a:r>
              <a:rPr lang="en-US" b="1" dirty="0">
                <a:solidFill>
                  <a:srgbClr val="113A5C"/>
                </a:solidFill>
              </a:rPr>
              <a:t> </a:t>
            </a:r>
            <a:r>
              <a:rPr lang="en-US" b="1" dirty="0" err="1">
                <a:solidFill>
                  <a:srgbClr val="113A5C"/>
                </a:solidFill>
              </a:rPr>
              <a:t>realista</a:t>
            </a:r>
            <a:r>
              <a:rPr lang="en-US" sz="1800" b="1" dirty="0">
                <a:solidFill>
                  <a:srgbClr val="113A5C"/>
                </a:solidFill>
              </a:rPr>
              <a:t> y de carácter especializado.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8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CA8F71-E709-50E1-D27C-AB31E66D6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226" y="4041648"/>
            <a:ext cx="2307654" cy="15384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urtains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3A5C"/>
          </a:solidFill>
          <a:ln w="12700">
            <a:solidFill>
              <a:srgbClr val="11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886968"/>
            <a:ext cx="1042416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524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508760"/>
            <a:ext cx="9692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Delta presenta fundamentos financieros adecuados y una capacidad de pago consistente.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El principal condicionante de riesgo proviene de la volatilidad estructural de la industria aeronáutica.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s-ES" sz="2000" dirty="0">
                <a:solidFill>
                  <a:srgbClr val="1F2937"/>
                </a:solidFill>
              </a:rPr>
              <a:t>La pérdida esperada estimada se mantiene en niveles acotados para el banco, aun bajo un escenario adverso</a:t>
            </a:r>
            <a:r>
              <a:rPr lang="en-US" sz="2000" dirty="0">
                <a:solidFill>
                  <a:srgbClr val="1F2937"/>
                </a:solidFill>
              </a:rPr>
              <a:t>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La recomendación de línea entre $20 y $30 millones es viable bajo un enfoque prudencial.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La decisión final debe complementarse con gobernanza, monitoreo y control de concentración.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75720" y="6492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9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7B9BC-1C40-2145-C252-2F7CC83770FB}"/>
              </a:ext>
            </a:extLst>
          </p:cNvPr>
          <p:cNvSpPr txBox="1"/>
          <p:nvPr/>
        </p:nvSpPr>
        <p:spPr>
          <a:xfrm>
            <a:off x="1067950" y="5357051"/>
            <a:ext cx="9656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113A5C"/>
                </a:solidFill>
              </a:rPr>
              <a:t>Conclusión: Buen perfil financiero, pero dentro de un sector que exige prudencia crediticia por la naturaleza cambiante y expuesta de la industria aeronáutica.</a:t>
            </a:r>
            <a:endParaRPr lang="en-US" b="1" dirty="0">
              <a:solidFill>
                <a:srgbClr val="113A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1193</Words>
  <Application>Microsoft Office PowerPoint</Application>
  <PresentationFormat>Widescreen</PresentationFormat>
  <Paragraphs>170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del riesgo de crédito corporativo - Delta Air Lines</dc:title>
  <dc:subject>Evaluación del riesgo de crédito corporativo en la industria aeronáutica</dc:subject>
  <dc:creator>OpenAI</dc:creator>
  <cp:lastModifiedBy>Óscar Eduardo Rocha Mora</cp:lastModifiedBy>
  <cp:revision>6</cp:revision>
  <dcterms:created xsi:type="dcterms:W3CDTF">2026-04-08T14:22:05Z</dcterms:created>
  <dcterms:modified xsi:type="dcterms:W3CDTF">2026-04-08T16:02:16Z</dcterms:modified>
</cp:coreProperties>
</file>